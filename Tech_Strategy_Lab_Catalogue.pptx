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3923" y="0"/>
            <a:ext cx="5485028" cy="6858000"/>
          </a:xfrm>
          <a:prstGeom prst="rect">
            <a:avLst/>
          </a:prstGeom>
          <a:solidFill>
            <a:srgbClr val="14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920"/>
                </a:solidFill>
              </a:rPr>
              <a:t>ENTERPRISE CATALOGUE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Tech Strategy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AAAA"/>
                </a:solidFill>
              </a:rPr>
              <a:t>Marketing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Simulate campaign scenarios, isolate demand shocks,
reconstruct brand DNA, and project revenue outcomes
with enterprise-grade precision.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</a:rPr>
              <a:t>🧬  Powered by Seasonal DNA Engine™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9144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BB"/>
                </a:solidFill>
              </a:rPr>
              <a:t>📸  INSERT: App hero screenshot (login or dashboard overview)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Confidential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Why revenue forecasting fails without a DNA-aware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" cy="19202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Seasonal blindness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93392"/>
            <a:ext cx="5285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Standard models treat every week equally. High-traffic months are understated, slow periods are overestimated — leading to budget misallocation.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36576" cy="19202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627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6459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Campaign noise contamination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993392"/>
            <a:ext cx="5285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 single flash-sale week corrupts the entire demand baseline. Teams cannot separate organic demand from artificial spikes.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6576" cy="19202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40479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No 'what-if' scenario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187951"/>
            <a:ext cx="5285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Decision-makers lack a safe sandbox to model 'what happens if we replicate last year's Black Friday push in March?' before committing spend.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749039"/>
            <a:ext cx="36576" cy="19202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840479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Brand comparison impossible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187951"/>
            <a:ext cx="5285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Multi-brand portfolios carry incomparable seasonality profiles. Aggregating across brands without DNA normalisation produces meaningless KPIs.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The Seasonal DNA Engine™ — a three-layer demand reconstruction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Historical DNA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01368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Upload brand data. The engine computes daily, weekly, and monthly seasonality indices (clicks, CR, AOV) across all available years — weighted by recency and similarity.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1965960"/>
            <a:ext cx="54864" cy="7772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61488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61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15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Trial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99816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Enter your trial-period actuals (clicks, orders, revenue). The engine strips adjustments (promotions, suppressions) to derive clean base constants.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" y="3264408"/>
            <a:ext cx="54864" cy="7772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59935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5993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1421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Forward Projection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398263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DNA indices are multiplied by base constants to produce daily Baseline and Simulation curves with ±15 % confidence bands for the full projection year.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4562855"/>
            <a:ext cx="54864" cy="7772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58384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583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3126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Event Simulation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696712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Inject campaigns, DNA swaps, de-shocked signatures, or custom drag events. Each event is layered on top — fully attributed and reversible.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463040"/>
            <a:ext cx="5943600" cy="5120640"/>
          </a:xfrm>
          <a:prstGeom prst="rect">
            <a:avLst/>
          </a:prstGeom>
          <a:solidFill>
            <a:srgbClr val="E8ECF5"/>
          </a:solidFill>
          <a:ln w="15240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1A1A6B"/>
                </a:solidFill>
              </a:rPr>
              <a:t>📸  INSERT: DNA Drag / Simulation chart screenshot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Main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7772400" cy="5029200"/>
          </a:xfrm>
          <a:prstGeom prst="rect">
            <a:avLst/>
          </a:prstGeom>
          <a:solidFill>
            <a:srgbClr val="E8ECF5"/>
          </a:solidFill>
          <a:ln w="15240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1A1A6B"/>
                </a:solidFill>
              </a:rPr>
              <a:t>📸  INSERT: Full Dashboard screenshot (Goal Tracker + DNA chart + Projection chart)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9144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✓  Baseline vs Simulation projection (daily/weekly/monthly)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6459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✓  Goal Tracker — set revenue / orders / clicks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377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✓  Historical DNA comparison across brands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108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</a:rPr>
              <a:t>✓  ±15 % confidence band visualisation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4114800"/>
            <a:ext cx="3749039" cy="146304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Used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5262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Strategy &amp; Growth teams
Digital Marketing Directors
Brand Portfolio Managers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 Simulation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7772400" cy="5029200"/>
          </a:xfrm>
          <a:prstGeom prst="rect">
            <a:avLst/>
          </a:prstGeom>
          <a:solidFill>
            <a:srgbClr val="E8ECF5"/>
          </a:solidFill>
          <a:ln w="15240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1A1A6B"/>
                </a:solidFill>
              </a:rPr>
              <a:t>📸  INSERT: Simulation Lab screenshot (Events tab or De-Shock tab)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822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50808" y="822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</a:rPr>
              <a:t>Campaign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808" y="117043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Front-Loaded, Linear Fade, Step, Delayed Peak shapes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4120" y="822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🖱️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88168" y="822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</a:rPr>
              <a:t>DNA Sculpting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88168" y="117043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Drag-to-reshape seasonal indices month-by-month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2194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</a:rPr>
              <a:t>De-Shock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54203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Isolate artificial spikes (historical or forecast)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🎛️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88168" y="2194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</a:rPr>
              <a:t>Spike Compressor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8168" y="254203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Re-scale any spike — 'what if 30 % less lift?'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</a:rPr>
              <a:t>Signature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391363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Save, re-inject, and compare event signatures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3566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88168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</a:rPr>
              <a:t>Attribution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88168" y="391363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Gap attribution — % of target each event fills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🔬  Brand Forge  ·  📋  User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5669280" cy="2834640"/>
          </a:xfrm>
          <a:prstGeom prst="rect">
            <a:avLst/>
          </a:prstGeom>
          <a:solidFill>
            <a:srgbClr val="E8ECF5"/>
          </a:solidFill>
          <a:ln w="15240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1A1A6B"/>
                </a:solidFill>
              </a:rPr>
              <a:t>📸  INSERT: Brand Forge screenshot (DNA preview chart)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657600"/>
            <a:ext cx="5669280" cy="2834640"/>
          </a:xfrm>
          <a:prstGeom prst="rect">
            <a:avLst/>
          </a:prstGeom>
          <a:solidFill>
            <a:srgbClr val="E8ECF5"/>
          </a:solidFill>
          <a:ln w="15240">
            <a:solidFill>
              <a:srgbClr val="1A1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1A1A6B"/>
                </a:solidFill>
              </a:rPr>
              <a:t>📸  INSERT: User Log screenshot (activity log view)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685800"/>
            <a:ext cx="5669280" cy="256032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822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🔬  Brand Forge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→  Blend two existing brand DNA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099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→  Adjust monthly click, CR, and AOV indices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8541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→  Generate synthetic daily data with log-normal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609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→  Instantly appears in DNA Brands selector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429000"/>
            <a:ext cx="5669280" cy="3108960"/>
          </a:xfrm>
          <a:prstGeom prst="rect">
            <a:avLst/>
          </a:prstGeom>
          <a:solidFill>
            <a:srgbClr val="0D0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User Log &amp;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050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→  Every click and modification is timestamped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079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→  Filter by user, action type,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10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→  Download full audit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5138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→  Granular login snapshots (data state at login)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Enterprise-Grade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Built for multi-brand portfolio management at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36576" cy="2057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490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Role-Based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856232"/>
            <a:ext cx="34107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Single-tenant deployment with username/password auth. Full audit trail of every action by every user.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417320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36576" cy="2057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90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Multi-Brand DNA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56232"/>
            <a:ext cx="34107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Support for unlimited brands. Similarity-weighted DNA blending across years and entities.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8744" y="1417320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38744" y="1417320"/>
            <a:ext cx="36576" cy="2057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490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Excel Strategy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856232"/>
            <a:ext cx="34107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One-click download of full projection data, event log, and DNA weights as formatted Excel.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49039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749039"/>
            <a:ext cx="36576" cy="2057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4047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Multilingual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187951"/>
            <a:ext cx="34107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English and Italian interface. Extend to any language via the i18n configuration layer.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5112" y="3749039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2" y="3749039"/>
            <a:ext cx="36576" cy="2057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384047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Live Data Ingestion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187951"/>
            <a:ext cx="34107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Upload CSV to add or replace brand data at any time. Brand Forge creates synthetic brands from DNA.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38744" y="3749039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38744" y="3749039"/>
            <a:ext cx="36576" cy="2057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2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</a:rPr>
              <a:t>⚙️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41664" y="384047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Configurable Defaults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187951"/>
            <a:ext cx="34107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Per-brand campaign impact coefficients. Global defaults with brand-level overrides. Settings saved persistently.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
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Python-native, fully open-source stack.
Runs on-premise or any cloud provider.
No external data dependencies.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</a:rPr>
              <a:t>Deploy 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Streamlit Community Cloud  ·  AWS  ·  GCP
Azure  ·  On-premise Docker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685800"/>
            <a:ext cx="749807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731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AAAA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978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Streamlit 1.32+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886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Interactive web app, no JavaScript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749807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AAAA"/>
                </a:solidFill>
              </a:rPr>
              <a:t>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55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Pandas 2.0 + NumPy 1.26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Fast in-memory computation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240280"/>
            <a:ext cx="749807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AAAA"/>
                </a:solidFill>
              </a:rPr>
              <a:t>Visualisation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32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Plotly 5.20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441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Interactive charts, hover, zoom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017520"/>
            <a:ext cx="749807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AAAA"/>
                </a:solidFill>
              </a:rPr>
              <a:t>DNA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310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Custom Python 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2186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engine/dna.py, calibration.py, simulation.py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794760"/>
            <a:ext cx="749807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AAAA"/>
                </a:solidFill>
              </a:rPr>
              <a:t>Persistence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87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CSV flat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9959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profiles, dataset, settings, activity 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572000"/>
            <a:ext cx="749807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AAAA"/>
                </a:solidFill>
              </a:rPr>
              <a:t>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64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OpenPyXL 3.1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773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Formatted Excel reports with styling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5349240"/>
            <a:ext cx="749807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AAAA"/>
                </a:solidFill>
              </a:rPr>
              <a:t>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641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Session-state auth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5504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Username + password, extensible to SSO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Ready to deploy?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</a:rPr>
              <a:t>Tech Strategy Lab is available as a private cloud deployment
or on-premise installation with full source-code access.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383280"/>
            <a:ext cx="4873752" cy="1645920"/>
          </a:xfrm>
          <a:prstGeom prst="rect">
            <a:avLst/>
          </a:prstGeom>
          <a:solidFill>
            <a:srgbClr val="14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7920"/>
                </a:solidFill>
              </a:rPr>
              <a:t>📧  parsa.hajiannejad@universitybox.com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🔗  github.com/Parsa-Hajian/marketing-lab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🧬  Tech Strategy Lab  ·  Marketing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3093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7"/>
                </a:solidFill>
              </a:rPr>
              <a:t>Confidential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