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914400" cy="68580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365760" cy="6858000"/>
          </a:xfrm>
          <a:prstGeom prst="rect">
            <a:avLst/>
          </a:prstGeom>
          <a:solidFill>
            <a:srgbClr val="222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161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49240"/>
            <a:ext cx="12188952" cy="9144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B0B8FF"/>
                </a:solidFill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Tech Strategy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0B8FF"/>
                </a:solidFill>
              </a:rPr>
              <a:t>User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FF"/>
                </a:solidFill>
              </a:rPr>
              <a:t>A step-by-step guide for every team member</a:t>
            </a:r>
          </a:p>
          <a:p>
            <a:pPr algn="l"/>
            <a:r>
              <a:rPr sz="1500" b="0" i="1">
                <a:solidFill>
                  <a:srgbClr val="CCCCFF"/>
                </a:solidFill>
              </a:rPr>
              <a:t>No technical knowledge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FF"/>
                </a:solidFill>
              </a:rPr>
              <a:t>📊 Forecast  ·  🎯 Targets  ·  🚀 Campaigns  ·  🧹 De-Shock  ·  📋 Attribution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5943600"/>
            <a:ext cx="2651760" cy="566928"/>
          </a:xfrm>
          <a:prstGeom prst="rect">
            <a:avLst/>
          </a:prstGeom>
          <a:solidFill>
            <a:srgbClr val="282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5989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B8FF"/>
                </a:solidFill>
              </a:rPr>
              <a:t>🇬🇧 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What Is Tech Strategy Lab?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A GPS for your marketing decisions — powered by your own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Think of it as a flight simulator for your business.</a:t>
            </a:r>
          </a:p>
          <a:p>
            <a:pPr algn="l"/>
            <a:r>
              <a:rPr sz="1500" b="0" i="1">
                <a:solidFill>
                  <a:srgbClr val="475569"/>
                </a:solidFill>
              </a:rPr>
              <a:t>Test any scenario safely — no real money at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743200" cy="384048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📊  Forecast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See how Sales, Traffic and Orders perform throughout the year — before committing to anything.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103120"/>
            <a:ext cx="2743200" cy="384048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🧬  DNA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2A2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Understand your brand's unique seasonal pattern: when customers buy, how much,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103120"/>
            <a:ext cx="2743200" cy="384048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🎯  Targets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10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Enter your revenue goal and see instantly how much traffic, CR lift or spend you need.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210312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1396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🚀  Simulate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2487168"/>
            <a:ext cx="274320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578608"/>
            <a:ext cx="25237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Add campaigns, swap seasonal periods — every chart updates live in a single click.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1430000" cy="54864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38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6B"/>
                </a:solidFill>
              </a:rPr>
              <a:t>💡  Everything is built from the real trial data you enter — your own numbers, your own DNA.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1 — Enter Your Trial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Foundation of everything. All forecasts are calibrated from these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</a:rPr>
              <a:t>Open the left sidebar and fill in these fields: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2880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Analysis Granularity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37360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828800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Choose Monthly to start. Switch to Weekly or Daily for finer detail.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14016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50545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Select DNA Brands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414016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05456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Tick the brands you want to analyse (or leave ALL checked).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182112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Trial Start / End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090672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182112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When did your test or campaign run? (e.g. 01/01/2026 – 31/01/2026)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673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58768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Total Clicks in Trial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767328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858768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How many website visits did you record during the trial?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4398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535424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Total Qty in Trial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443984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4535424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How many orders or units were sold during the trial?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21208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Total Sales in Trial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120640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5212080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What was the total revenue (€) during the trial?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97296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58887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6B"/>
                </a:solidFill>
              </a:rPr>
              <a:t>Trial Pre-Adjustment (opt.)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5797296"/>
            <a:ext cx="8549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5888736"/>
            <a:ext cx="8366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40"/>
                </a:solidFill>
              </a:rPr>
              <a:t>If a promo boosted the trial, enter the % to strip it — or leave at 0.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28232"/>
            <a:ext cx="114300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✅  After entering the data, click anywhere — the dashboard updates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2 — Reading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Main Dashboard → 📈 Projection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347472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Grey dashed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371600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4630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BEFORE — Baseline: what happens with zero campaigns. Always your starting anchor.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68296"/>
            <a:ext cx="347472" cy="384048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0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Navy solid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258568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3500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AFTER — Forecast including all the events and campaigns you've added.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347472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369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Red shaded bands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145536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23697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CAMPAIGN WINDOWS — Semi-transparent areas mark where a campaign is active on the timeline.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42232"/>
            <a:ext cx="34747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Shaded ribbon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032504"/>
            <a:ext cx="7909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12394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CONFIDENCE RANGE — ±15% corridor showing the realistic high / low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11430000" cy="36576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389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📊  Metric dropdown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138928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Use "Select View Metric" to switch between Sales · Clicks · Orders · CR · AOV.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595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❓  No After line?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559552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No events added yet. Go to ⚡ Lab → 🚀 Events and inject a campaign.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0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🎯  Goal Tracker tab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980176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Shows how close you are to your target — period by period — with Before and After lines.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6B"/>
                </a:solidFill>
              </a:rPr>
              <a:t>🧬  DNA Profile tab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40080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Shows three DNA layers: Pure (raw) / Pre-Trial (calibration) / Work (full simulation).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3 — Setting a Target (Goal Tracker)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Main Dashboard → 🎯 Goal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Tell the system where you want to be — it tells you exactly what it takes to get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3716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Set the Target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408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Choose start and end date of the period you're planning (e.g. Q4 2026).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47088"/>
            <a:ext cx="502920" cy="13716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1424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Choose your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408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Sales (revenue), Qty (orders), Clicks (traffic), CR (conversion rate) or AOV (basket size).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28416"/>
            <a:ext cx="502920" cy="137160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Enter your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Type the number you want to reach (e.g. €200,000 in revenue for Q4).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328416"/>
            <a:ext cx="5029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1424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How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221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Via Traffic (Clicks)? Via Conversion Rate? Via bigger basket (AOV)? Each gives a different action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9744"/>
            <a:ext cx="50292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Read the KPI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5 cards: Needed · Before · After  for Traffic, Orders, Revenue, CR and AOV.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809744"/>
            <a:ext cx="5029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Read the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Red dashed = your target. Navy = After. Grey = Before. Bars = surplus/shortfall per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4 — Adding a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🚀 Events → Add Time-Bound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A campaign = extra traffic lift for a specific date window. Every chart updates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444752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Start &amp; End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2257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Pick the dates your promotion runs (e.g. Black Friday: 25–30 Nov).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847088"/>
            <a:ext cx="502920" cy="1444752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231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1424" y="184708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Traffic Lift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2257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How much extra traffic do you expect? +50% = 50% more visitors than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502920" cy="1444752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856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40156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Campaign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770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Front-Loaded (big burst at start) · Linear Fade (tapers off)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Delayed Peak (builds then spikes) · Step (flat, constant throughout)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401568"/>
            <a:ext cx="502920" cy="14447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7856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1424" y="340156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Shape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770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 mini-chart appears automatically so you can see the traffic curve before confirming.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56048"/>
            <a:ext cx="502920" cy="1444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400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95604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Inject Campaign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43153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Click '➕ Inject Campaign'. The navy After line appears on every chart automatically.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956048"/>
            <a:ext cx="502920" cy="1444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3400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4956048"/>
            <a:ext cx="525780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Stack multiple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43153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Repeat for more campaigns — effects combine automatically. No manual calculation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5 — Swapping Seasonal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🚀 Events → Swap Time Periods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475569"/>
                </a:solidFill>
              </a:rPr>
              <a:t>"What if December had August's shopping pattern?" — test it before committing.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82296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2024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Select Period A — Start &amp;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49424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Pick any date range for the first period (e.g. Jan 1 – Jan 31, for January pattern).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34056"/>
            <a:ext cx="502920" cy="82296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16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734056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80720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A2A88"/>
                </a:solidFill>
              </a:rPr>
              <a:t>Select Period B — Start &amp;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13639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Pick any date range for the second period (e.g. Jul 1 – Jul 31, for July pattern).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502920" cy="82296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03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621024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6A3A"/>
                </a:solidFill>
              </a:rPr>
              <a:t>Check the derived indices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0233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The app automatically shows which months / weeks will be swapped — no manual calculation.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07992"/>
            <a:ext cx="502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908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4507992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5811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</a:rPr>
              <a:t>Pre-Trial or Post-Trial?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91032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Pre-Trial: changes how the baseline is calibrated (affects Before line).</a:t>
            </a:r>
          </a:p>
          <a:p>
            <a:pPr algn="l"/>
            <a:r>
              <a:rPr sz="1200" b="0" i="0">
                <a:solidFill>
                  <a:srgbClr val="475569"/>
                </a:solidFill>
              </a:rPr>
              <a:t>Post-Trial: only affects the projection (After) 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94960"/>
            <a:ext cx="5029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577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5394960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46811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Click 🔄 Execute DNA Swap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9729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The seasonal patterns of Period A and B exchange. DNA Profile tab shows the change instantly.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A6B"/>
                </a:solidFill>
              </a:rPr>
              <a:t>💡  Use case: Launch in a slow month — apply a busy month's DNA to model realistic upside before committing budget.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6 — De-Shock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🧹 De-Shock Tool &amp; Signature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475569"/>
                </a:solidFill>
              </a:rPr>
              <a:t>What happened organically vs what was caused by a promotion? This tool finds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02920" cy="13716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Pick the shock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40864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Set the Start and End Date of the period where a known promotion ran.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6"/>
            <a:ext cx="502920" cy="137160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328416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Read the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22192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Green fill = artificial uplift (campaign-driven).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Red dashed = organic floor (10th percentile baseline).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9744"/>
            <a:ext cx="502920" cy="137160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809744"/>
            <a:ext cx="5257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01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Read Forensic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303520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Δ Clicks / Orders / Sales: volume caused by the campaign.</a:t>
            </a:r>
          </a:p>
          <a:p>
            <a:pPr algn="l"/>
            <a:r>
              <a:rPr sz="1150" b="0" i="0">
                <a:solidFill>
                  <a:srgbClr val="475569"/>
                </a:solidFill>
              </a:rPr>
              <a:t>CR Delta: did campaign visitors convert differently?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847088"/>
            <a:ext cx="5029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2592" y="1847088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1938528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Save as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340864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Name the shock and click 💾. It goes into the Signature Library.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28416"/>
            <a:ext cx="50292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3328416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3419856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Re-inject into 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3822192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Pick a new date, choose Absolute (exact units) or Relative (scaled), then 💉 Inject.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809744"/>
            <a:ext cx="5029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1572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2592" y="4809744"/>
            <a:ext cx="4754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4901184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Why it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5303520"/>
            <a:ext cx="4553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Clean your trial before calibrating: strip known boosts so the baseline is truly organic.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Step 7 — Audit Tab: Manage Your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⚡ Event Simulation Lab → 📋 Audit &amp; Gap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Every event is listed with its exact contribution to your target gap.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📣  Campaign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2743200" cy="2130552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A time-bound traffic lift.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Can be moved (↔ Shift) to a new date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without losing shape or strength.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92024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🖱️  DNA Drag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304288"/>
            <a:ext cx="2743200" cy="213055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A multiplier applied to a specific period.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Reshapes the seasonal index for calibration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or projection.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920240"/>
            <a:ext cx="274320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🔄  DNA Swap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304288"/>
            <a:ext cx="2743200" cy="2130552"/>
          </a:xfrm>
          <a:prstGeom prst="rect">
            <a:avLst/>
          </a:prstGeom>
          <a:solidFill>
            <a:srgbClr val="E0F2FE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Two periods whose seasonal patterns have been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exchanged — visible on all charts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and the DNA Profile tab.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920240"/>
            <a:ext cx="2743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9568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💉  Re-Injection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2304288"/>
            <a:ext cx="2743200" cy="2130552"/>
          </a:xfrm>
          <a:prstGeom prst="rect">
            <a:avLst/>
          </a:prstGeom>
          <a:solidFill>
            <a:srgbClr val="DCFCE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395728"/>
            <a:ext cx="252374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1E40"/>
                </a:solidFill>
              </a:rPr>
              <a:t>A historical shock signature applied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to a new future date in the forecast.</a:t>
            </a:r>
          </a:p>
          <a:p>
            <a:pPr algn="l"/>
            <a:r>
              <a:rPr sz="1150" b="0" i="0">
                <a:solidFill>
                  <a:srgbClr val="1E1E40"/>
                </a:solidFill>
              </a:rPr>
              <a:t>Library stores unlimited signatures.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45152"/>
            <a:ext cx="11430000" cy="36576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📊 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77316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Each coloured card shows how much that event adds or subtracts from your target gap.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7608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↔  Shift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27608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Move a campaign to a different date — shape, strength and duration stay exactly the same.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790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❌  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7900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Remove a single event from the log. Every chart updates immediately.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819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6B"/>
                </a:solidFill>
              </a:rPr>
              <a:t>🗑️  Clear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628192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</a:rPr>
              <a:t>Start completely fresh. Removes every event from the log in one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71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Quick Tips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FF"/>
                </a:solidFill>
              </a:rPr>
              <a:t>Get the most out of Tech Strategy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1371600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6B"/>
                </a:solidFill>
              </a:rPr>
              <a:t>Real data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Accurate trial Clicks / Qty / Sales = more reliable forecasts. Garbage in, garbage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371600"/>
            <a:ext cx="502920" cy="1188720"/>
          </a:xfrm>
          <a:prstGeom prst="rect">
            <a:avLst/>
          </a:prstGeom>
          <a:solidFill>
            <a:srgbClr val="2A2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371600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88"/>
                </a:solidFill>
              </a:rPr>
              <a:t>Normal trial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47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Choose a period without big promotions or system outages — your most organic window.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502920" cy="1188720"/>
          </a:xfrm>
          <a:prstGeom prst="rect">
            <a:avLst/>
          </a:prstGeom>
          <a:solidFill>
            <a:srgbClr val="10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2670048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6A3A"/>
                </a:solidFill>
              </a:rPr>
              <a:t>Monthly → then zoom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145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Start at Monthly granularity for the big picture. Switch to Weekly / Daily for fine-tuning.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670048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2670048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Grey = do-nothing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145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The grey dashed line shows 'what if we run zero campaigns'. Always use it as your anchor.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68496"/>
            <a:ext cx="50292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3968496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059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Stack campaigns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4439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Add multiple campaigns to build a full marketing calendar. Effects combine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3968496"/>
            <a:ext cx="5029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224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3968496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59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De-Shock before calibrating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4439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If the trial ran during a promo, strip the artificial lift first. Baseline quality matters.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66944"/>
            <a:ext cx="502920" cy="1188720"/>
          </a:xfrm>
          <a:prstGeom prst="rect">
            <a:avLst/>
          </a:prstGeom>
          <a:solidFill>
            <a:srgbClr val="0E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5229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" y="5266944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AA0"/>
                </a:solidFill>
              </a:rPr>
              <a:t>Swap = seasonal stress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7424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'What if we launch in a bad month with a good month's DNA?' — answer it before committing.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5266944"/>
            <a:ext cx="5029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55229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21424" y="5266944"/>
            <a:ext cx="5257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Check the Audit tab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7424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Attribution per event tells you what's actually moving the needle — delete what isn't.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