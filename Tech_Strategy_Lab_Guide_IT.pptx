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914400" cy="68580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365760" cy="6858000"/>
          </a:xfrm>
          <a:prstGeom prst="rect">
            <a:avLst/>
          </a:prstGeom>
          <a:solidFill>
            <a:srgbClr val="222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161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49240"/>
            <a:ext cx="12188952" cy="9144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B0B8FF"/>
                </a:solidFill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Tech Strategy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0B8FF"/>
                </a:solidFill>
              </a:rPr>
              <a:t>Guida Utente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FF"/>
                </a:solidFill>
              </a:rPr>
              <a:t>Una guida passo-passo per tutti i membri del team</a:t>
            </a:r>
          </a:p>
          <a:p>
            <a:pPr algn="l"/>
            <a:r>
              <a:rPr sz="1500" b="0" i="1">
                <a:solidFill>
                  <a:srgbClr val="CCCCFF"/>
                </a:solidFill>
              </a:rPr>
              <a:t>Nessuna conoscenza tecnica richiesta.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FF"/>
                </a:solidFill>
              </a:rPr>
              <a:t>📊 Previsioni  ·  🎯 Obiettivi  ·  🚀 Campagne  ·  🧹 De-Shock  ·  📋 Attribuzione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5943600"/>
            <a:ext cx="2651760" cy="566928"/>
          </a:xfrm>
          <a:prstGeom prst="rect">
            <a:avLst/>
          </a:prstGeom>
          <a:solidFill>
            <a:srgbClr val="282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5989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B8FF"/>
                </a:solidFill>
              </a:rPr>
              <a:t>🇮🇹  Italiano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Cos'è Tech Strategy Lab?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Un GPS per le tue decisioni di marketing — basato sui tuoi dati reali.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Immaginalo come un simulatore di volo per il tuo business.</a:t>
            </a:r>
          </a:p>
          <a:p>
            <a:pPr algn="l"/>
            <a:r>
              <a:rPr sz="1500" b="0" i="1">
                <a:solidFill>
                  <a:srgbClr val="475569"/>
                </a:solidFill>
              </a:rPr>
              <a:t>Testa qualsiasi scenario in sicurezza — senza rischi reali.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743200" cy="384048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📊  Previsioni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Vedi come si comporteranno Vendite, Traffico e Ordini durante l'anno — prima di prendere impegni.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103120"/>
            <a:ext cx="2743200" cy="384048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🧬  DNA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2A2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Comprendi il pattern stagionale unico del tuo brand: quando comprano i clienti, quanto e perché.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103120"/>
            <a:ext cx="2743200" cy="384048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🎯  Obiettivi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10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Inserisci il tuo obiettivo di fatturato e scopri subito quanto traffico, CR o spesa servono.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210312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🚀  Simula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Aggiungi campagne, scambia periodi stagionali — ogni grafico si aggiorna live con un click.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1430000" cy="54864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38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6B"/>
                </a:solidFill>
              </a:rPr>
              <a:t>💡  Tutto è costruito dai dati reali del trial che inserisci — i tuoi numeri, il tuo DNA.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1 — Inserisci i Dati del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Il fondamento di tutto. Tutte le previsioni sono calibrate su questi dati.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Apri la barra laterale sinistra e compila questi campi: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2880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Granularità di Analisi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37360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828800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Inizia con Mensile. Passa a Settimanale o Giornaliero per più dettaglio.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14016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50545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Seleziona Brand DNA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414016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05456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Spunta i brand da analizzare (oppure lascia selezionato TUTTI).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182112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Data Inizio / Fine Trial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090672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182112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Quando si è svolto il test? (es. 01/01/2026 – 31/01/2026)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673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5876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Click Totali nel Trial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767328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858768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Quante visite al sito hai registrato durante il trial?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4398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535424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Qtà Totale nel Trial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443984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4535424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Quanti ordini/unità sono stati venduti durante il trial?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21208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Vendite Totali nel Trial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120640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5212080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Qual è stato il fatturato totale (€) durante il trial?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97296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58887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Pre-Aggiustamento Trial (opt.)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5797296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5888736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Se una promo ha gonfiato il trial, inserisci la % da sottrarre — o lascia a 0.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28232"/>
            <a:ext cx="114300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✅  Dopo aver inserito i dati, clicca ovunque — la dashboard si aggiorna automaticamente.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2 — Come Leggere la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Main Dashboard → 📈 Projection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347472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Linea grigia tratteggiata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371600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4630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PRIMA — Baseline: cosa accade senza campagne. È sempre il tuo punto di riferimento.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68296"/>
            <a:ext cx="347472" cy="384048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0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Linea navy piena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258568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3500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DOPO — Previsione con tutti gli eventi e le campagne che hai aggiunto.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347472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369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Bande rosse ombreggiate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145536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23697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FINESTRE CAMPAGNA — Aree semitrasparenti che mostrano dove è attiva una campagna.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42232"/>
            <a:ext cx="34747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Nastro ombreggiato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032504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12394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RANGE DI CONFIDENZA — Corridoio ±15% con i limiti realistici alto e basso.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11430000" cy="36576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389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📊  Metric dropdown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138928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Usa "Seleziona Metrica" per passare tra Vendite · Click · Ordini · CR · AOV.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595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❓  No After line?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559552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Nessun evento aggiunto. Vai in ⚡ Lab → 🚀 Campagne e inietta un evento.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0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🎯  Goal Tracker tab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980176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Mostra quanto sei vicino all'obiettivo — periodo per periodo — con linee Prima e Dopo.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🧬  DNA Profile tab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40080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Mostra tre livelli DNA: Puro (grezzo) / Pre-Trial (calibrazione) / Work (simulazione completa).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3 — Impostare un Obiettivo (Goal Tracker)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Main Dashboard → 🎯 Goal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Di' al sistema dove vuoi arrivare — ti mostrerà esattamente cosa serve per arrivarci.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3716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Imposta il Periodo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408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Scegli data di inizio e fine del periodo che stai pianificando (es. Q4 2026).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47088"/>
            <a:ext cx="502920" cy="13716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1424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Scegli la Metrica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408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Vendite (fatturato), Qtà (ordini), Click (traffico), CR (conversione) o AOV (scontrino medio).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28416"/>
            <a:ext cx="502920" cy="137160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Inserisci il tuo Obiettivo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Digita il numero che vuoi raggiungere (es. €200.000 di fatturato nel Q4).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328416"/>
            <a:ext cx="5029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1424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Come Scalare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221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Via Traffico? Via Tasso di Conversione? Via scontrino più alto (AOV)? Ogni opzione dà un piano diverso.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9744"/>
            <a:ext cx="50292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Leggi la Matrice 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5 card: Necessario · Prima · Dopo  per Traffico, Ordini, Fatturato, CR e AOV.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809744"/>
            <a:ext cx="5029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Leggi i Grafici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Rosso tratteggiato = tuo obiettivo. Navy = Dopo. Grigio = Prima. Barre = gap per periodo.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4 — Aggiungere una Campagna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🚀 Events → Add Time-Bound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Una campagna = incremento di traffico per una finestra di date specifica. Tutti i grafici si aggiornano.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444752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Data Inizio e 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2257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Scegli le date in cui gira la promo (es. settimana Black Friday: 25–30 Nov).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47088"/>
            <a:ext cx="502920" cy="1444752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231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1424" y="184708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Incremento Traffico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2257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Quanto traffico extra ti aspetti? +50% = 50% di visitatori in più rispetto alla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502920" cy="1444752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856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40156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Forma Campagna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770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Front-Loaded (picco iniziale) · Linear Fade (si attenua)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Delayed Peak (cresce poi picco) · Step (piatto, costante)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401568"/>
            <a:ext cx="502920" cy="14447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7856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1424" y="340156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Anteprima Forma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770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Un mini-grafico appare automaticamente per visualizzare la curva prima di confermare.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56048"/>
            <a:ext cx="502920" cy="1444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400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95604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Inietta Campagna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43153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Clicca '➕ Inietta Campagna'. La linea navy Dopo appare su tutti i grafici.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956048"/>
            <a:ext cx="502920" cy="1444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3400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495604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Accumula più campagne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43153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Ripeti per aggiungere altre campagne — gli effetti si combinano automaticamente.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5 — Scambiare Periodi Stagionali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🚀 Events → Swap Time Periods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475569"/>
                </a:solidFill>
              </a:rPr>
              <a:t>"Cosa succederebbe se Dicembre avesse il pattern di Agosto?" — testalo prima di impegnarti.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82296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2024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Seleziona Periodo A — Inizio &amp; 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49424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Scegli qualsiasi intervallo per il primo periodo (es. 1 Gen – 31 Gen, per il pattern di Gennaio).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34056"/>
            <a:ext cx="502920" cy="82296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16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734056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80720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A2A88"/>
                </a:solidFill>
              </a:rPr>
              <a:t>Seleziona Periodo B — Inizio &amp; 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13639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Scegli qualsiasi intervallo per il secondo periodo (es. 1 Lug – 31 Lug, per il pattern di Luglio).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502920" cy="82296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03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621024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6A3A"/>
                </a:solidFill>
              </a:rPr>
              <a:t>Verifica gli indici derivati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0233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L'app mostra automaticamente quali mesi/settimane verranno scambiati — nessun calcolo manuale.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07992"/>
            <a:ext cx="502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908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4507992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5811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</a:rPr>
              <a:t>Pre-Trial o Post-Trial?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91032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Pre-Trial: cambia come viene calibrata la baseline (influenza la linea Prima).</a:t>
            </a:r>
          </a:p>
          <a:p>
            <a:pPr algn="l"/>
            <a:r>
              <a:rPr sz="1200" b="0" i="0">
                <a:solidFill>
                  <a:srgbClr val="475569"/>
                </a:solidFill>
              </a:rPr>
              <a:t>Post-Trial: influenza solo la linea di proiezione (Dopo).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94960"/>
            <a:ext cx="5029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577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5394960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46811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Clicca 🔄 Esegui Scambio DNA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9729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I pattern stagionali del Periodo A e B si scambiano. La scheda Profilo DNA mostra il cambiamento.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6B"/>
                </a:solidFill>
              </a:rPr>
              <a:t>💡  Caso d'uso: Lancia in un mese lento — applica il DNA di un mese vivace per modellare il potenziale reale prima di investire.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6 — Strumento De-Shock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🧹 De-Shock Tool &amp; Signature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475569"/>
                </a:solidFill>
              </a:rPr>
              <a:t>Cosa è avvenuto organicamente vs cosa è stato causato da una promozione? Questo strumento lo scopre.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3716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Pick the shock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40864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Imposta la Data di Inizio e Fine del periodo in cui è girata una promozione nota.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6"/>
            <a:ext cx="502920" cy="13716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Read the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22192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Riempimento verde = uplift artificiale (campagna).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Rosso tratteggiato = piano organico (10° percentile).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9744"/>
            <a:ext cx="502920" cy="137160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Read Forensic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303520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Δ Click / Ordini / Vendite: volume causato dalla campagna.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Delta CR: i visitatori campagna hanno convertito diversamente?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847088"/>
            <a:ext cx="5029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2592" y="1847088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1938528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Save as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340864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Nomina lo shock e clicca 💾. Va nella Libreria Firme.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28416"/>
            <a:ext cx="50292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3328416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3419856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Re-inject into 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3822192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Scegli una nuova data, seleziona Assoluto o Relativo, poi 💉 Inietta.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809744"/>
            <a:ext cx="5029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2592" y="4809744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4901184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Why it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5303520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Pulisci il trial prima di calibrare: rimuovi i boost noti per avere una baseline organica.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Passo 7 — Tab Audit: Gestisci i Tuoi Eventi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📋 Audit &amp; Gap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Ogni evento è elencato con il suo contributo esatto al gap rispetto all'obiettivo.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📣  Campagna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2743200" cy="2130552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Incremento di traffico limitato nel tempo.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Può essere spostato (↔) a una nuova data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senza perdere forma o intensità.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92024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🖱️  DNA Drag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304288"/>
            <a:ext cx="2743200" cy="213055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Un moltiplicatore su un periodo specifico.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Rimodella l'indice stagionale per la calibrazione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o la proiezione.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920240"/>
            <a:ext cx="274320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🔄  Scambio DNA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304288"/>
            <a:ext cx="2743200" cy="2130552"/>
          </a:xfrm>
          <a:prstGeom prst="rect">
            <a:avLst/>
          </a:prstGeom>
          <a:solidFill>
            <a:srgbClr val="E0F2FE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Due periodi i cui pattern stagionali sono stati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scambiati — visibile su tutti i grafici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e nel tab Profilo DNA.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920240"/>
            <a:ext cx="2743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💉  Re-Iniezione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2304288"/>
            <a:ext cx="2743200" cy="2130552"/>
          </a:xfrm>
          <a:prstGeom prst="rect">
            <a:avLst/>
          </a:prstGeom>
          <a:solidFill>
            <a:srgbClr val="DCFCE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Una firma shock storica applicata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a una nuova data futura nella previsione.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La libreria conserva firme illimitate.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45152"/>
            <a:ext cx="11430000" cy="36576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📊  Attribuzione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77316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Ogni card colorata mostra quanto quell'evento aggiunge o sottrae al tuo gap obiettivo.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7608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↔  Sposta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27608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Sposta una campagna a una data diversa — forma, intensità e durata rimangono identiche.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790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❌  Elimina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7900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Rimuovi un singolo evento dal registro. Tutti i grafici si aggiornano immediatamente.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819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🗑️  Azzera Tutto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628192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Ricomincia da zero. Rimuove tutti gli eventi dal registro con un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Consigli Rapidi e Buone Pratiche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Ottieni il massimo da Tech Strategy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1371600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Real data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Click / Qtà / Vendite accurati del trial = previsioni più affidabili. Dati spazzatura, risultati spazzatura.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371600"/>
            <a:ext cx="502920" cy="118872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371600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Normal trial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47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Scegli un periodo senza grandi promozioni o interruzioni — la tua finestra più organica.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502920" cy="118872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2670048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Monthly → then zoom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145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Inizia con granularità Mensile per il quadro generale. Passa a Settimanale/Giornaliero per il dettaglio.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670048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2670048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Grey = do-nothing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145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La linea grigia tratteggiata mostra 'cosa succede con zero campagne'. Usala sempre come ancora.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68496"/>
            <a:ext cx="50292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3968496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059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Stack campaigns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4439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Aggiungi più campagne per costruire un calendario marketing completo. Gli effetti si combinano.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3968496"/>
            <a:ext cx="5029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3968496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59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De-Shock before calibrating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4439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Se il trial è girato durante una promo, rimuovi prima l'uplift artificiale. La qualità della baseline conta.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66944"/>
            <a:ext cx="502920" cy="1188720"/>
          </a:xfrm>
          <a:prstGeom prst="rect">
            <a:avLst/>
          </a:prstGeom>
          <a:solidFill>
            <a:srgbClr val="0E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5229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" y="5266944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A0"/>
                </a:solidFill>
              </a:rPr>
              <a:t>Swap = seasonal stress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7424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'Cosa succede se lanciamo in un mese lento con il DNA di un mese vivace?' — risponditi prima.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5266944"/>
            <a:ext cx="5029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55229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21424" y="5266944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Check the Audit tab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7424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L'attribuzione per evento ti dice cosa sta davvero funzionando — elimina ciò che non aggiunge valore.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